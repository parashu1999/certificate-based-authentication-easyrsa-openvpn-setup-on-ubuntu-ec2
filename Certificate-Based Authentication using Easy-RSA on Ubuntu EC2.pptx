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40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E69151D-3989-4A9B-89A9-95A0AD7FFE37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5ADFEEF-CD3D-4313-BADA-0A514797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inscp.net/eng/download.php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914400"/>
            <a:ext cx="9144000" cy="1910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/>
              <a:t>Certificate-Based Authentication using </a:t>
            </a:r>
            <a:r>
              <a:rPr lang="en-US" sz="3200" dirty="0" smtClean="0"/>
              <a:t>Easy-RSA on Ubuntu </a:t>
            </a:r>
            <a:r>
              <a:rPr lang="en-US" sz="3200" dirty="0" smtClean="0"/>
              <a:t>EC2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38800" y="4572000"/>
            <a:ext cx="30026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Prepare by : 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Parasharama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63562"/>
            <a:ext cx="9144000" cy="113982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certificate-based authentication using Easy-RSA on an Ubuntu EC2 instance</a:t>
            </a:r>
            <a:endParaRPr sz="36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400301"/>
            <a:ext cx="8318500" cy="4073652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Certificate Authentication using Easy-RSA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security method where users and servers prove their identity using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digital certificates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instead of passwords.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Easy-RSA is a tool that helps you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your own Certificate Authority (CA)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generate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server certificates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client certificates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are used by systems like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OpenVPN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secure, encrypted communication.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82013"/>
            <a:ext cx="84074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Why it is used</a:t>
            </a:r>
          </a:p>
          <a:p>
            <a:endParaRPr lang="en-US" sz="2000" b="1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create </a:t>
            </a:r>
            <a:r>
              <a:rPr lang="en-US" sz="2000" b="1" dirty="0" smtClean="0"/>
              <a:t>secure VPN connections (OpenVPN)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ensure that </a:t>
            </a:r>
            <a:r>
              <a:rPr lang="en-US" sz="2000" b="1" dirty="0" smtClean="0"/>
              <a:t>only trusted clients</a:t>
            </a:r>
            <a:r>
              <a:rPr lang="en-US" sz="2000" dirty="0" smtClean="0"/>
              <a:t> can connect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provide </a:t>
            </a:r>
            <a:r>
              <a:rPr lang="en-US" sz="2000" b="1" dirty="0" smtClean="0"/>
              <a:t>stronger security</a:t>
            </a:r>
            <a:r>
              <a:rPr lang="en-US" sz="2000" dirty="0" smtClean="0"/>
              <a:t> than username/password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allow </a:t>
            </a:r>
            <a:r>
              <a:rPr lang="en-US" sz="2000" b="1" dirty="0" smtClean="0"/>
              <a:t>encryption + authentication</a:t>
            </a:r>
            <a:r>
              <a:rPr lang="en-US" sz="2000" dirty="0" smtClean="0"/>
              <a:t> using PKI (Public Key Infrastructure)</a:t>
            </a:r>
          </a:p>
          <a:p>
            <a:endParaRPr lang="en-US" sz="2000" b="1" dirty="0" smtClean="0"/>
          </a:p>
          <a:p>
            <a:r>
              <a:rPr lang="en-US" sz="2400" b="1" dirty="0" smtClean="0"/>
              <a:t>Key components involved</a:t>
            </a:r>
          </a:p>
          <a:p>
            <a:endParaRPr lang="en-US" sz="2000" b="1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CA (Certificate Authority)</a:t>
            </a:r>
            <a:r>
              <a:rPr lang="en-US" sz="2000" dirty="0" smtClean="0"/>
              <a:t> → Main authority that signs certificates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Server certificate</a:t>
            </a:r>
            <a:r>
              <a:rPr lang="en-US" sz="2000" dirty="0" smtClean="0"/>
              <a:t> → Used by the server to identify itself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Client certificate</a:t>
            </a:r>
            <a:r>
              <a:rPr lang="en-US" sz="2000" dirty="0" smtClean="0"/>
              <a:t> → Used by each client to authenticate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Private key</a:t>
            </a:r>
            <a:r>
              <a:rPr lang="en-US" sz="2000" dirty="0" smtClean="0"/>
              <a:t> → Secret key (never shared)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Public certificate</a:t>
            </a:r>
            <a:r>
              <a:rPr lang="en-US" sz="2000" dirty="0" smtClean="0"/>
              <a:t> → Shared with server/client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CRL (Certificate Revocation List)</a:t>
            </a:r>
            <a:r>
              <a:rPr lang="en-US" sz="2000" dirty="0" smtClean="0"/>
              <a:t> → Used to block a compromised client certificate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Steps to Create Certificates Using </a:t>
            </a:r>
            <a:br>
              <a:rPr lang="en-US" b="1" dirty="0" smtClean="0"/>
            </a:br>
            <a:r>
              <a:rPr lang="en-US" b="1" dirty="0" smtClean="0"/>
              <a:t>Easy-RSA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90500" y="1155700"/>
            <a:ext cx="8801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Step 1:  Create EC2 instance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286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Create one EC2 Instance with Ubuntu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Application and OS Images 		(Amazon Machine Image)</a:t>
            </a:r>
          </a:p>
          <a:p>
            <a:pPr marL="228600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286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Use the old version of AMI Ubuntu Server 22.04 LTS (HVM),EBS General   	Purpose (SSD) Volume Type, &amp; don’t use the latest Version of AMI</a:t>
            </a:r>
          </a:p>
          <a:p>
            <a:pPr marL="228600"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28600"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Key pair 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.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ppk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file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80963"/>
            <a:ext cx="8686800" cy="669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6700" y="38100"/>
            <a:ext cx="8724899" cy="7725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Step 2: </a:t>
            </a:r>
            <a:r>
              <a:rPr lang="en-US" sz="2000" b="1" dirty="0" err="1" smtClean="0"/>
              <a:t>Conncet</a:t>
            </a:r>
            <a:r>
              <a:rPr lang="en-US" sz="2000" b="1" dirty="0" smtClean="0"/>
              <a:t> EC2 Instance  ( HOW )</a:t>
            </a:r>
          </a:p>
          <a:p>
            <a:endParaRPr lang="en-US" sz="2000" b="1" dirty="0" smtClean="0"/>
          </a:p>
          <a:p>
            <a:endParaRPr lang="en-US" sz="2000" dirty="0" smtClean="0"/>
          </a:p>
          <a:p>
            <a:pPr marL="114300">
              <a:buFont typeface="Wingdings" pitchFamily="2" charset="2"/>
              <a:buChar char="v"/>
            </a:pPr>
            <a:r>
              <a:rPr lang="en-US" sz="2000" b="1" dirty="0" smtClean="0"/>
              <a:t> Using </a:t>
            </a:r>
            <a:r>
              <a:rPr lang="en-US" sz="2000" b="1" dirty="0" err="1" smtClean="0"/>
              <a:t>PuTTY</a:t>
            </a:r>
            <a:r>
              <a:rPr lang="en-US" sz="2000" b="1" dirty="0" smtClean="0"/>
              <a:t> (Windows)</a:t>
            </a:r>
          </a:p>
          <a:p>
            <a:r>
              <a:rPr lang="en-US" sz="2000" dirty="0" smtClean="0"/>
              <a:t>	- Windows users normally use </a:t>
            </a:r>
            <a:r>
              <a:rPr lang="en-US" sz="2000" b="1" dirty="0" err="1" smtClean="0"/>
              <a:t>PuTTY</a:t>
            </a:r>
            <a:r>
              <a:rPr lang="en-US" sz="2000" dirty="0" smtClean="0"/>
              <a:t> (since it uses .</a:t>
            </a:r>
            <a:r>
              <a:rPr lang="en-US" sz="2000" dirty="0" err="1" smtClean="0"/>
              <a:t>ppk</a:t>
            </a:r>
            <a:r>
              <a:rPr lang="en-US" sz="2000" dirty="0" smtClean="0"/>
              <a:t> keys).</a:t>
            </a:r>
          </a:p>
          <a:p>
            <a:endParaRPr lang="en-US" sz="2000" dirty="0" smtClean="0"/>
          </a:p>
          <a:p>
            <a:pPr marL="114300">
              <a:buFont typeface="Wingdings" pitchFamily="2" charset="2"/>
              <a:buChar char="v"/>
            </a:pPr>
            <a:r>
              <a:rPr lang="en-US" sz="2000" b="1" dirty="0" smtClean="0"/>
              <a:t> 1 Convert .</a:t>
            </a:r>
            <a:r>
              <a:rPr lang="en-US" sz="2000" b="1" dirty="0" err="1" smtClean="0"/>
              <a:t>pem</a:t>
            </a:r>
            <a:r>
              <a:rPr lang="en-US" sz="2000" b="1" dirty="0" smtClean="0"/>
              <a:t> → .</a:t>
            </a:r>
            <a:r>
              <a:rPr lang="en-US" sz="2000" b="1" dirty="0" err="1" smtClean="0"/>
              <a:t>ppk</a:t>
            </a:r>
            <a:endParaRPr lang="en-US" sz="2000" b="1" dirty="0" smtClean="0"/>
          </a:p>
          <a:p>
            <a:pPr marL="406400">
              <a:buFont typeface="Arial" pitchFamily="34" charset="0"/>
              <a:buChar char="•"/>
            </a:pPr>
            <a:r>
              <a:rPr lang="en-US" sz="2000" dirty="0" smtClean="0"/>
              <a:t> Open </a:t>
            </a:r>
            <a:r>
              <a:rPr lang="en-US" sz="2000" b="1" dirty="0" err="1" smtClean="0"/>
              <a:t>PuTTYgen</a:t>
            </a:r>
            <a:endParaRPr lang="en-US" sz="2000" b="1" dirty="0" smtClean="0"/>
          </a:p>
          <a:p>
            <a:pPr marL="406400"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Click </a:t>
            </a:r>
            <a:r>
              <a:rPr lang="en-US" sz="2000" b="1" dirty="0" smtClean="0"/>
              <a:t>Load</a:t>
            </a:r>
            <a:r>
              <a:rPr lang="en-US" sz="2000" dirty="0" smtClean="0"/>
              <a:t> → choose your .</a:t>
            </a:r>
            <a:r>
              <a:rPr lang="en-US" sz="2000" dirty="0" err="1" smtClean="0"/>
              <a:t>pem</a:t>
            </a:r>
            <a:r>
              <a:rPr lang="en-US" sz="2000" dirty="0" smtClean="0"/>
              <a:t> file</a:t>
            </a:r>
          </a:p>
          <a:p>
            <a:pPr marL="406400">
              <a:buFont typeface="Arial" pitchFamily="34" charset="0"/>
              <a:buChar char="•"/>
            </a:pPr>
            <a:r>
              <a:rPr lang="en-US" sz="2000" dirty="0" smtClean="0"/>
              <a:t> Click </a:t>
            </a:r>
            <a:r>
              <a:rPr lang="en-US" sz="2000" b="1" dirty="0" smtClean="0"/>
              <a:t>Save private key</a:t>
            </a:r>
            <a:r>
              <a:rPr lang="en-US" sz="2000" dirty="0" smtClean="0"/>
              <a:t> → saves .</a:t>
            </a:r>
            <a:r>
              <a:rPr lang="en-US" sz="2000" dirty="0" err="1" smtClean="0"/>
              <a:t>ppk</a:t>
            </a:r>
            <a:endParaRPr lang="en-US" sz="2000" dirty="0" smtClean="0"/>
          </a:p>
          <a:p>
            <a:pPr marL="406400">
              <a:buFont typeface="Arial" pitchFamily="34" charset="0"/>
              <a:buChar char="•"/>
            </a:pPr>
            <a:r>
              <a:rPr lang="en-US" sz="2000" dirty="0" smtClean="0"/>
              <a:t> Close </a:t>
            </a:r>
            <a:r>
              <a:rPr lang="en-US" sz="2000" dirty="0" err="1" smtClean="0"/>
              <a:t>PuTTYgen</a:t>
            </a:r>
            <a:endParaRPr lang="en-US" sz="2000" dirty="0" smtClean="0"/>
          </a:p>
          <a:p>
            <a:pPr marL="406400">
              <a:buFont typeface="Arial" pitchFamily="34" charset="0"/>
              <a:buChar char="•"/>
            </a:pPr>
            <a:endParaRPr lang="en-US" sz="2000" dirty="0" smtClean="0"/>
          </a:p>
          <a:p>
            <a:pPr marL="114300">
              <a:buFont typeface="Wingdings" pitchFamily="2" charset="2"/>
              <a:buChar char="v"/>
            </a:pPr>
            <a:r>
              <a:rPr lang="en-US" sz="2000" b="1" dirty="0" smtClean="0"/>
              <a:t> 2 Open </a:t>
            </a:r>
            <a:r>
              <a:rPr lang="en-US" sz="2000" b="1" dirty="0" err="1" smtClean="0"/>
              <a:t>PuTTY</a:t>
            </a:r>
            <a:endParaRPr lang="en-US" sz="2000" b="1" dirty="0" smtClean="0"/>
          </a:p>
          <a:p>
            <a:pPr marL="457200"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Hostname = </a:t>
            </a:r>
            <a:r>
              <a:rPr lang="en-US" sz="2000" dirty="0" err="1" smtClean="0"/>
              <a:t>ubuntu</a:t>
            </a:r>
            <a:r>
              <a:rPr lang="en-US" sz="2000" dirty="0" smtClean="0"/>
              <a:t>@&lt;EC2-PUBLIC-IP&gt;</a:t>
            </a:r>
          </a:p>
          <a:p>
            <a:pPr marL="457200">
              <a:buFont typeface="Arial" pitchFamily="34" charset="0"/>
              <a:buChar char="•"/>
            </a:pPr>
            <a:r>
              <a:rPr lang="en-US" sz="2000" dirty="0" smtClean="0"/>
              <a:t> Go to </a:t>
            </a:r>
            <a:r>
              <a:rPr lang="en-US" sz="2000" b="1" dirty="0" smtClean="0"/>
              <a:t>Connection &gt; SSH &gt; Auth &gt; Credentials</a:t>
            </a:r>
          </a:p>
          <a:p>
            <a:pPr marL="457200"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Browse and add your .</a:t>
            </a:r>
            <a:r>
              <a:rPr lang="en-US" sz="2000" dirty="0" err="1" smtClean="0"/>
              <a:t>ppk</a:t>
            </a:r>
            <a:r>
              <a:rPr lang="en-US" sz="2000" dirty="0" smtClean="0"/>
              <a:t> key</a:t>
            </a:r>
          </a:p>
          <a:p>
            <a:pPr marL="457200">
              <a:buFont typeface="Arial" pitchFamily="34" charset="0"/>
              <a:buChar char="•"/>
            </a:pPr>
            <a:r>
              <a:rPr lang="en-US" sz="2000" dirty="0" smtClean="0"/>
              <a:t> Click </a:t>
            </a:r>
            <a:r>
              <a:rPr lang="en-US" sz="2000" b="1" dirty="0" smtClean="0"/>
              <a:t>Open &amp; </a:t>
            </a:r>
            <a:r>
              <a:rPr lang="en-US" sz="2000" dirty="0" smtClean="0"/>
              <a:t>Accept the connection</a:t>
            </a:r>
          </a:p>
          <a:p>
            <a:pPr marL="457200">
              <a:buFont typeface="Arial" pitchFamily="34" charset="0"/>
              <a:buChar char="•"/>
            </a:pPr>
            <a:endParaRPr lang="en-US" sz="2000" dirty="0" smtClean="0"/>
          </a:p>
          <a:p>
            <a:pPr marL="114300">
              <a:buFont typeface="Wingdings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b="1" dirty="0" smtClean="0"/>
              <a:t>3 Connect Using EC2 Instance Connect (Web Browser)</a:t>
            </a:r>
            <a:endParaRPr lang="en-US" sz="2000" dirty="0" smtClean="0"/>
          </a:p>
          <a:p>
            <a:pPr marL="457200">
              <a:buFont typeface="Arial" pitchFamily="34" charset="0"/>
              <a:buChar char="•"/>
            </a:pPr>
            <a:r>
              <a:rPr lang="en-US" sz="2000" b="1" dirty="0" smtClean="0"/>
              <a:t> Open AWS Console → EC2 → Instances</a:t>
            </a:r>
          </a:p>
          <a:p>
            <a:pPr marL="457200">
              <a:buFont typeface="Arial" pitchFamily="34" charset="0"/>
              <a:buChar char="•"/>
            </a:pPr>
            <a:r>
              <a:rPr lang="en-US" sz="2000" b="1" dirty="0" smtClean="0"/>
              <a:t> Select your instance &amp; click  to “Connect”</a:t>
            </a:r>
          </a:p>
          <a:p>
            <a:endParaRPr lang="en-US" sz="2000" dirty="0" smtClean="0"/>
          </a:p>
          <a:p>
            <a:r>
              <a:rPr lang="en-US" sz="2000" dirty="0" smtClean="0"/>
              <a:t>This opens an in-browser terminal.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61422"/>
            <a:ext cx="8991600" cy="31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62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36600"/>
            <a:ext cx="9144000" cy="612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79826" y="176768"/>
            <a:ext cx="3708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Successful Connected to Ubuntu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9143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In terminal Install Easy-RSA and OpenVPN tools &amp; run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749300"/>
            <a:ext cx="82042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Step 3:</a:t>
            </a:r>
            <a:r>
              <a:rPr lang="en-US" b="1" dirty="0" smtClean="0"/>
              <a:t> </a:t>
            </a:r>
            <a:r>
              <a:rPr lang="en-US" b="1" dirty="0" err="1" smtClean="0"/>
              <a:t>sudo</a:t>
            </a:r>
            <a:r>
              <a:rPr lang="en-US" b="1" dirty="0" smtClean="0"/>
              <a:t> apt-get update </a:t>
            </a:r>
            <a:r>
              <a:rPr lang="en-US" dirty="0" smtClean="0"/>
              <a:t># Every to time to update when you connect  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Step 4: </a:t>
            </a:r>
            <a:r>
              <a:rPr lang="en-US" sz="2000" b="1" dirty="0" err="1" smtClean="0"/>
              <a:t>sudo</a:t>
            </a:r>
            <a:r>
              <a:rPr lang="en-US" sz="2000" b="1" dirty="0" smtClean="0"/>
              <a:t> apt-get install -y </a:t>
            </a:r>
            <a:r>
              <a:rPr lang="en-US" sz="2000" b="1" dirty="0" err="1" smtClean="0"/>
              <a:t>openvpn</a:t>
            </a:r>
            <a:r>
              <a:rPr lang="en-US" sz="2000" b="1" dirty="0" smtClean="0"/>
              <a:t> easy-</a:t>
            </a:r>
            <a:r>
              <a:rPr lang="en-US" sz="2000" b="1" dirty="0" err="1" smtClean="0"/>
              <a:t>rsa</a:t>
            </a:r>
            <a:endParaRPr lang="en-US" b="1" dirty="0" smtClean="0"/>
          </a:p>
          <a:p>
            <a:pPr lvl="1"/>
            <a:r>
              <a:rPr lang="en-US" b="1" dirty="0" smtClean="0"/>
              <a:t>What this command does</a:t>
            </a:r>
          </a:p>
          <a:p>
            <a:pPr lvl="1"/>
            <a:r>
              <a:rPr lang="en-US" b="1" dirty="0" smtClean="0"/>
              <a:t>Installs OpenVPN</a:t>
            </a:r>
            <a:endParaRPr lang="en-US" dirty="0" smtClean="0"/>
          </a:p>
          <a:p>
            <a:pPr lvl="2"/>
            <a:r>
              <a:rPr lang="en-US" dirty="0" smtClean="0"/>
              <a:t>OpenVPN server &amp; client software</a:t>
            </a:r>
          </a:p>
          <a:p>
            <a:pPr lvl="2"/>
            <a:r>
              <a:rPr lang="en-US" dirty="0" smtClean="0"/>
              <a:t>Used to create secure VPN tunnels</a:t>
            </a:r>
          </a:p>
          <a:p>
            <a:pPr lvl="1"/>
            <a:r>
              <a:rPr lang="en-US" b="1" dirty="0" smtClean="0"/>
              <a:t>Installs Easy-RSA</a:t>
            </a:r>
            <a:endParaRPr lang="en-US" dirty="0" smtClean="0"/>
          </a:p>
          <a:p>
            <a:pPr lvl="2"/>
            <a:r>
              <a:rPr lang="en-US" dirty="0" smtClean="0"/>
              <a:t>Tool to create certificates (CA, server cert, client </a:t>
            </a:r>
            <a:r>
              <a:rPr lang="en-US" dirty="0" err="1" smtClean="0"/>
              <a:t>certs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Helps generate keys and sign certificates</a:t>
            </a:r>
          </a:p>
          <a:p>
            <a:pPr lvl="1"/>
            <a:r>
              <a:rPr lang="en-US" b="1" dirty="0" smtClean="0"/>
              <a:t>-y flag</a:t>
            </a:r>
            <a:endParaRPr lang="en-US" dirty="0" smtClean="0"/>
          </a:p>
          <a:p>
            <a:pPr lvl="2"/>
            <a:r>
              <a:rPr lang="en-US" dirty="0" smtClean="0"/>
              <a:t>Automatically selects </a:t>
            </a:r>
            <a:r>
              <a:rPr lang="en-US" b="1" dirty="0" smtClean="0"/>
              <a:t>YES</a:t>
            </a:r>
            <a:r>
              <a:rPr lang="en-US" dirty="0" smtClean="0"/>
              <a:t> for installation</a:t>
            </a:r>
          </a:p>
          <a:p>
            <a:pPr lvl="2"/>
            <a:r>
              <a:rPr lang="en-US" dirty="0" smtClean="0"/>
              <a:t>No need to confirm manually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9900" y="1292224"/>
            <a:ext cx="7962900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 r="2426"/>
          <a:stretch>
            <a:fillRect/>
          </a:stretch>
        </p:blipFill>
        <p:spPr bwMode="auto">
          <a:xfrm>
            <a:off x="457200" y="2019299"/>
            <a:ext cx="7975600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5575300"/>
            <a:ext cx="81661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1" y="165100"/>
            <a:ext cx="88138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Step 5: </a:t>
            </a:r>
            <a:r>
              <a:rPr lang="en-US" sz="2000" b="1" dirty="0" smtClean="0"/>
              <a:t>make-</a:t>
            </a:r>
            <a:r>
              <a:rPr lang="en-US" sz="2000" b="1" dirty="0" err="1" smtClean="0"/>
              <a:t>cadir</a:t>
            </a:r>
            <a:r>
              <a:rPr lang="en-US" sz="2000" b="1" dirty="0" smtClean="0"/>
              <a:t> ~/easy-</a:t>
            </a:r>
            <a:r>
              <a:rPr lang="en-US" sz="2000" b="1" dirty="0" err="1" smtClean="0"/>
              <a:t>rsa</a:t>
            </a:r>
            <a:r>
              <a:rPr lang="en-US" sz="2000" b="1" dirty="0" smtClean="0"/>
              <a:t> </a:t>
            </a:r>
          </a:p>
          <a:p>
            <a:pPr lvl="1">
              <a:buFontTx/>
              <a:buChar char="-"/>
            </a:pPr>
            <a:r>
              <a:rPr lang="en-US" sz="2000" dirty="0" smtClean="0"/>
              <a:t>make-</a:t>
            </a:r>
            <a:r>
              <a:rPr lang="en-US" sz="2000" dirty="0" err="1" smtClean="0"/>
              <a:t>cadir</a:t>
            </a:r>
            <a:r>
              <a:rPr lang="en-US" sz="2000" dirty="0" smtClean="0"/>
              <a:t> is a script used in </a:t>
            </a:r>
            <a:r>
              <a:rPr lang="en-US" sz="2000" b="1" dirty="0" smtClean="0"/>
              <a:t>Easy-RSA version 2</a:t>
            </a:r>
            <a:r>
              <a:rPr lang="en-US" sz="2000" dirty="0" smtClean="0"/>
              <a:t> (old version).</a:t>
            </a:r>
            <a:br>
              <a:rPr lang="en-US" sz="2000" dirty="0" smtClean="0"/>
            </a:br>
            <a:r>
              <a:rPr lang="en-US" sz="2000" dirty="0" smtClean="0"/>
              <a:t>It </a:t>
            </a:r>
            <a:r>
              <a:rPr lang="en-US" sz="2000" b="1" dirty="0" smtClean="0"/>
              <a:t>creates a new Easy-RSA working directory</a:t>
            </a:r>
            <a:r>
              <a:rPr lang="en-US" sz="2000" dirty="0" smtClean="0"/>
              <a:t> where you will manage keys and certificates.</a:t>
            </a:r>
          </a:p>
          <a:p>
            <a:pPr lvl="1">
              <a:buFontTx/>
              <a:buChar char="-"/>
            </a:pPr>
            <a:endParaRPr lang="en-US" sz="2000" dirty="0" smtClean="0"/>
          </a:p>
          <a:p>
            <a:pPr lvl="1">
              <a:buFontTx/>
              <a:buChar char="-"/>
            </a:pPr>
            <a:r>
              <a:rPr lang="en-US" sz="2000" dirty="0" smtClean="0"/>
              <a:t>It copies all Easy-RSA template files into </a:t>
            </a:r>
            <a:r>
              <a:rPr lang="en-US" sz="2000" b="1" dirty="0" smtClean="0"/>
              <a:t>~/easy-</a:t>
            </a:r>
            <a:r>
              <a:rPr lang="en-US" sz="2000" b="1" dirty="0" err="1" smtClean="0"/>
              <a:t>rsa</a:t>
            </a:r>
            <a:r>
              <a:rPr lang="en-US" sz="2000" dirty="0" smtClean="0"/>
              <a:t> directory.</a:t>
            </a:r>
          </a:p>
          <a:p>
            <a:pPr marL="63500" lvl="1"/>
            <a:r>
              <a:rPr lang="en-US" sz="2000" b="1" dirty="0" smtClean="0"/>
              <a:t>	</a:t>
            </a:r>
          </a:p>
          <a:p>
            <a:pPr marL="63500" lvl="1"/>
            <a:r>
              <a:rPr lang="en-US" sz="2000" b="1" dirty="0" smtClean="0"/>
              <a:t>	- /home/</a:t>
            </a:r>
            <a:r>
              <a:rPr lang="en-US" sz="2000" b="1" dirty="0" err="1" smtClean="0"/>
              <a:t>ubuntu</a:t>
            </a:r>
            <a:r>
              <a:rPr lang="en-US" sz="2000" b="1" dirty="0" smtClean="0"/>
              <a:t>/easy-</a:t>
            </a:r>
            <a:r>
              <a:rPr lang="en-US" sz="2000" b="1" dirty="0" err="1" smtClean="0"/>
              <a:t>rsa</a:t>
            </a:r>
            <a:r>
              <a:rPr lang="en-US" sz="2000" b="1" dirty="0" smtClean="0"/>
              <a:t>  </a:t>
            </a:r>
          </a:p>
          <a:p>
            <a:pPr marL="520700" lvl="2">
              <a:buFontTx/>
              <a:buChar char="-"/>
            </a:pPr>
            <a:r>
              <a:rPr lang="en-US" sz="2000" dirty="0" smtClean="0"/>
              <a:t>This path contain the your </a:t>
            </a:r>
            <a:r>
              <a:rPr lang="en-US" sz="2000" b="1" dirty="0" smtClean="0"/>
              <a:t>CA, server certificate, client certificates, keys, DH parameters, CRL</a:t>
            </a:r>
            <a:r>
              <a:rPr lang="en-US" sz="2000" dirty="0" smtClean="0"/>
              <a:t>, etc.</a:t>
            </a:r>
          </a:p>
          <a:p>
            <a:pPr marL="63500" lvl="2"/>
            <a:r>
              <a:rPr lang="en-US" sz="2000" dirty="0" smtClean="0"/>
              <a:t> </a:t>
            </a:r>
          </a:p>
          <a:p>
            <a:pPr marL="63500" lvl="2">
              <a:buFont typeface="Arial" pitchFamily="34" charset="0"/>
              <a:buChar char="•"/>
            </a:pPr>
            <a:r>
              <a:rPr lang="en-US" sz="2000" dirty="0" smtClean="0"/>
              <a:t>Step 6: </a:t>
            </a:r>
            <a:r>
              <a:rPr lang="en-US" sz="2000" b="1" dirty="0" err="1" smtClean="0"/>
              <a:t>cd</a:t>
            </a:r>
            <a:r>
              <a:rPr lang="en-US" sz="2000" b="1" dirty="0" smtClean="0"/>
              <a:t> ~/easy-</a:t>
            </a:r>
            <a:r>
              <a:rPr lang="en-US" sz="2000" b="1" dirty="0" err="1" smtClean="0"/>
              <a:t>rsa</a:t>
            </a:r>
            <a:r>
              <a:rPr lang="en-US" sz="2000" b="1" dirty="0" smtClean="0"/>
              <a:t> </a:t>
            </a:r>
          </a:p>
          <a:p>
            <a:pPr marL="520700" lvl="3">
              <a:buFontTx/>
              <a:buChar char="-"/>
            </a:pPr>
            <a:r>
              <a:rPr lang="en-US" sz="2000" dirty="0" smtClean="0"/>
              <a:t>It will redirect the Directory to folder </a:t>
            </a:r>
          </a:p>
          <a:p>
            <a:pPr marL="520700" lvl="3">
              <a:buFontTx/>
              <a:buChar char="-"/>
            </a:pPr>
            <a:endParaRPr lang="en-US" sz="2000" dirty="0" smtClean="0"/>
          </a:p>
          <a:p>
            <a:pPr marL="520700" lvl="3"/>
            <a:endParaRPr lang="en-US" sz="2000" dirty="0" smtClean="0"/>
          </a:p>
          <a:p>
            <a:pPr marL="63500" lvl="3">
              <a:tabLst>
                <a:tab pos="0" algn="l"/>
              </a:tabLst>
            </a:pPr>
            <a:endParaRPr lang="en-US" sz="2000" b="1" dirty="0" smtClean="0"/>
          </a:p>
          <a:p>
            <a:pPr marL="520700" lvl="3">
              <a:buFontTx/>
              <a:buChar char="-"/>
            </a:pPr>
            <a:endParaRPr lang="en-US" sz="2000" dirty="0" smtClean="0"/>
          </a:p>
          <a:p>
            <a:pPr marL="63500" lvl="1">
              <a:buFont typeface="Arial" pitchFamily="34" charset="0"/>
              <a:buChar char="•"/>
            </a:pPr>
            <a:endParaRPr lang="en-US" sz="2000" dirty="0" smtClean="0"/>
          </a:p>
          <a:p>
            <a:pPr>
              <a:buFont typeface="Arial" pitchFamily="34" charset="0"/>
              <a:buChar char="•"/>
            </a:pPr>
            <a:endParaRPr lang="en-US" sz="20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 t="68686"/>
          <a:stretch>
            <a:fillRect/>
          </a:stretch>
        </p:blipFill>
        <p:spPr bwMode="auto">
          <a:xfrm>
            <a:off x="742950" y="4318000"/>
            <a:ext cx="76581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92101"/>
            <a:ext cx="869950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lvl="3">
              <a:buFont typeface="Arial" pitchFamily="34" charset="0"/>
              <a:buChar char="•"/>
              <a:tabLst>
                <a:tab pos="0" algn="l"/>
              </a:tabLst>
            </a:pPr>
            <a:r>
              <a:rPr lang="en-US" sz="2000" b="1" dirty="0" smtClean="0"/>
              <a:t> </a:t>
            </a:r>
            <a:r>
              <a:rPr lang="en-US" sz="2000" dirty="0" smtClean="0"/>
              <a:t>Step 7: </a:t>
            </a:r>
            <a:r>
              <a:rPr lang="en-US" sz="2000" b="1" dirty="0" smtClean="0"/>
              <a:t>Initialize PKI (Public Key Infrastructure)</a:t>
            </a:r>
          </a:p>
          <a:p>
            <a:pPr marL="63500" lvl="3">
              <a:tabLst>
                <a:tab pos="0" algn="l"/>
              </a:tabLst>
            </a:pPr>
            <a:r>
              <a:rPr lang="en-US" sz="2400" b="1" dirty="0" smtClean="0"/>
              <a:t>	</a:t>
            </a:r>
          </a:p>
          <a:p>
            <a:pPr marL="63500" lvl="3">
              <a:tabLst>
                <a:tab pos="0" algn="l"/>
              </a:tabLst>
            </a:pPr>
            <a:r>
              <a:rPr lang="en-US" sz="2400" b="1" dirty="0" smtClean="0"/>
              <a:t>-   ./</a:t>
            </a:r>
            <a:r>
              <a:rPr lang="en-US" sz="2400" b="1" dirty="0" err="1" smtClean="0"/>
              <a:t>easyrsa</a:t>
            </a:r>
            <a:r>
              <a:rPr lang="en-US" sz="2400" b="1" dirty="0" smtClean="0"/>
              <a:t> init-</a:t>
            </a:r>
            <a:r>
              <a:rPr lang="en-US" sz="2400" b="1" dirty="0" err="1" smtClean="0"/>
              <a:t>pki</a:t>
            </a:r>
            <a:endParaRPr lang="en-US" sz="2400" b="1" dirty="0" smtClean="0"/>
          </a:p>
          <a:p>
            <a:r>
              <a:rPr lang="en-US" dirty="0" smtClean="0"/>
              <a:t>	Creates a new folder named </a:t>
            </a:r>
            <a:r>
              <a:rPr lang="en-US" b="1" dirty="0" err="1" smtClean="0"/>
              <a:t>pki</a:t>
            </a:r>
            <a:r>
              <a:rPr lang="en-US" b="1" dirty="0" smtClean="0"/>
              <a:t>/</a:t>
            </a:r>
            <a:endParaRPr lang="en-US" dirty="0" smtClean="0"/>
          </a:p>
          <a:p>
            <a:r>
              <a:rPr lang="en-US" dirty="0" smtClean="0"/>
              <a:t>	This is where all certificates, keys, CA, CRL, DH will be stored.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    Folder structure created: </a:t>
            </a:r>
          </a:p>
          <a:p>
            <a:pPr lvl="1"/>
            <a:r>
              <a:rPr lang="en-US" dirty="0" err="1" smtClean="0"/>
              <a:t>pki</a:t>
            </a:r>
            <a:r>
              <a:rPr lang="en-US" dirty="0" smtClean="0"/>
              <a:t>/</a:t>
            </a:r>
          </a:p>
          <a:p>
            <a:pPr lvl="1"/>
            <a:r>
              <a:rPr lang="en-US" dirty="0" smtClean="0"/>
              <a:t> ├── private/</a:t>
            </a:r>
          </a:p>
          <a:p>
            <a:pPr lvl="1"/>
            <a:r>
              <a:rPr lang="en-US" dirty="0" smtClean="0"/>
              <a:t> ├── </a:t>
            </a:r>
            <a:r>
              <a:rPr lang="en-US" dirty="0" err="1" smtClean="0"/>
              <a:t>reqs</a:t>
            </a:r>
            <a:r>
              <a:rPr lang="en-US" dirty="0" smtClean="0"/>
              <a:t>/</a:t>
            </a:r>
          </a:p>
          <a:p>
            <a:pPr lvl="1"/>
            <a:r>
              <a:rPr lang="en-US" dirty="0" smtClean="0"/>
              <a:t> ├── issued/</a:t>
            </a:r>
          </a:p>
          <a:p>
            <a:pPr lvl="1"/>
            <a:r>
              <a:rPr lang="en-US" dirty="0" smtClean="0"/>
              <a:t> ├── ca.crt (later)</a:t>
            </a:r>
          </a:p>
          <a:p>
            <a:pPr lvl="1"/>
            <a:r>
              <a:rPr lang="en-US" dirty="0" smtClean="0"/>
              <a:t> ├── dh.pem   (later)</a:t>
            </a:r>
          </a:p>
          <a:p>
            <a:pPr lvl="1"/>
            <a:r>
              <a:rPr lang="en-US" dirty="0" smtClean="0"/>
              <a:t> └── crl.pem  (later)</a:t>
            </a:r>
          </a:p>
          <a:p>
            <a:pPr lvl="1"/>
            <a:endParaRPr lang="en-US" dirty="0" smtClean="0"/>
          </a:p>
          <a:p>
            <a:pPr lvl="1"/>
            <a:endParaRPr lang="en-US" sz="2000" b="1" dirty="0" smtClean="0"/>
          </a:p>
          <a:p>
            <a:endParaRPr lang="en-US" dirty="0" smtClean="0"/>
          </a:p>
          <a:p>
            <a:pPr marL="63500" lvl="3">
              <a:tabLst>
                <a:tab pos="0" algn="l"/>
              </a:tabLst>
            </a:pPr>
            <a:endParaRPr lang="en-US" sz="2000" b="1" dirty="0" smtClean="0"/>
          </a:p>
          <a:p>
            <a:pPr marL="63500" lvl="3">
              <a:tabLst>
                <a:tab pos="0" algn="l"/>
              </a:tabLst>
            </a:pPr>
            <a:endParaRPr lang="en-US" sz="2000" b="1" dirty="0" smtClean="0"/>
          </a:p>
          <a:p>
            <a:pPr marL="63500" lvl="3">
              <a:tabLst>
                <a:tab pos="0" algn="l"/>
              </a:tabLst>
            </a:pPr>
            <a:endParaRPr lang="en-US" sz="2000" b="1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" y="4649788"/>
            <a:ext cx="876701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1" y="241300"/>
            <a:ext cx="8712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</a:t>
            </a:r>
            <a:r>
              <a:rPr lang="en-US" dirty="0" smtClean="0"/>
              <a:t>Step 8: </a:t>
            </a:r>
            <a:r>
              <a:rPr lang="en-US" b="1" dirty="0" smtClean="0"/>
              <a:t>Build the Certificate Authority (CA)</a:t>
            </a:r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r>
              <a:rPr lang="en-US" b="1" dirty="0" smtClean="0"/>
              <a:t>	-  ./</a:t>
            </a:r>
            <a:r>
              <a:rPr lang="en-US" b="1" dirty="0" err="1" smtClean="0"/>
              <a:t>easyrsa</a:t>
            </a:r>
            <a:r>
              <a:rPr lang="en-US" b="1" dirty="0" smtClean="0"/>
              <a:t> build-ca 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	</a:t>
            </a:r>
            <a:r>
              <a:rPr lang="en-US" dirty="0" smtClean="0"/>
              <a:t>Once u run this </a:t>
            </a:r>
            <a:r>
              <a:rPr lang="en-US" dirty="0" err="1" smtClean="0"/>
              <a:t>cmd</a:t>
            </a:r>
            <a:r>
              <a:rPr lang="en-US" dirty="0" smtClean="0"/>
              <a:t>  then you need to create </a:t>
            </a:r>
            <a:r>
              <a:rPr lang="en-US" b="1" dirty="0" smtClean="0"/>
              <a:t>New Password &amp; You can 	store this password future reference (ubuntu123)</a:t>
            </a:r>
          </a:p>
          <a:p>
            <a:r>
              <a:rPr lang="en-US" b="1" dirty="0" smtClean="0"/>
              <a:t>	- </a:t>
            </a:r>
            <a:r>
              <a:rPr lang="en-US" dirty="0" smtClean="0"/>
              <a:t>Create the new your user, host name / server name : </a:t>
            </a:r>
            <a:r>
              <a:rPr lang="en-US" b="1" dirty="0" err="1" smtClean="0"/>
              <a:t>parashu</a:t>
            </a:r>
            <a:endParaRPr lang="en-US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301" y="2613025"/>
            <a:ext cx="8712200" cy="409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228600"/>
            <a:ext cx="8991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itchFamily="18" charset="0"/>
              </a:rPr>
              <a:t>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itchFamily="18" charset="0"/>
              </a:rPr>
              <a:t>Step</a:t>
            </a:r>
            <a:r>
              <a:rPr kumimoji="0" lang="en-US" sz="20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itchFamily="18" charset="0"/>
              </a:rPr>
              <a:t> 9: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itchFamily="18" charset="0"/>
              </a:rPr>
              <a:t>Generate Server Certificate Request</a:t>
            </a: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itchFamily="18" charset="0"/>
            </a:endParaRP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itchFamily="18" charset="0"/>
              </a:rPr>
              <a:t>cmd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+mj-lt"/>
                <a:cs typeface="Times New Roman" pitchFamily="18" charset="0"/>
              </a:rPr>
              <a:t> ./</a:t>
            </a:r>
            <a:r>
              <a:rPr lang="en-US" sz="2000" b="1" dirty="0" err="1" smtClean="0">
                <a:latin typeface="+mj-lt"/>
                <a:cs typeface="Times New Roman" pitchFamily="18" charset="0"/>
              </a:rPr>
              <a:t>easyrsa</a:t>
            </a:r>
            <a:r>
              <a:rPr lang="en-US" sz="2000" b="1" dirty="0" smtClean="0">
                <a:latin typeface="+mj-lt"/>
                <a:cs typeface="Times New Roman" pitchFamily="18" charset="0"/>
              </a:rPr>
              <a:t> gen-</a:t>
            </a:r>
            <a:r>
              <a:rPr lang="en-US" sz="2000" b="1" dirty="0" err="1" smtClean="0">
                <a:latin typeface="+mj-lt"/>
                <a:cs typeface="Times New Roman" pitchFamily="18" charset="0"/>
              </a:rPr>
              <a:t>req</a:t>
            </a:r>
            <a:r>
              <a:rPr lang="en-US" sz="2000" b="1" dirty="0" smtClean="0">
                <a:latin typeface="+mj-lt"/>
                <a:cs typeface="Times New Roman" pitchFamily="18" charset="0"/>
              </a:rPr>
              <a:t> server </a:t>
            </a:r>
            <a:r>
              <a:rPr lang="en-US" sz="2000" b="1" dirty="0" err="1" smtClean="0">
                <a:latin typeface="+mj-lt"/>
                <a:cs typeface="Times New Roman" pitchFamily="18" charset="0"/>
              </a:rPr>
              <a:t>nopass</a:t>
            </a:r>
            <a:endParaRPr lang="en-US" sz="2000" b="1" dirty="0" smtClean="0">
              <a:latin typeface="+mj-lt"/>
              <a:cs typeface="Times New Roman" pitchFamily="18" charset="0"/>
            </a:endParaRP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endParaRPr lang="en-US" sz="2000" b="1" dirty="0" smtClean="0">
              <a:latin typeface="+mj-lt"/>
              <a:cs typeface="Times New Roman" pitchFamily="18" charset="0"/>
            </a:endParaRPr>
          </a:p>
          <a:p>
            <a:pPr lvl="1">
              <a:buFontTx/>
              <a:buChar char="-"/>
            </a:pPr>
            <a:r>
              <a:rPr lang="en-US" b="1" dirty="0" smtClean="0"/>
              <a:t>Creates a private key + certificate signing request (CSR)</a:t>
            </a:r>
          </a:p>
          <a:p>
            <a:pPr lvl="1">
              <a:buFontTx/>
              <a:buChar char="-"/>
            </a:pPr>
            <a:endParaRPr lang="en-US" b="1" dirty="0" smtClean="0"/>
          </a:p>
          <a:p>
            <a:pPr lvl="1">
              <a:buFontTx/>
              <a:buChar char="-"/>
            </a:pPr>
            <a:r>
              <a:rPr lang="en-US" dirty="0" smtClean="0"/>
              <a:t>Created files: </a:t>
            </a:r>
            <a:r>
              <a:rPr lang="en-US" b="1" dirty="0" err="1" smtClean="0"/>
              <a:t>pki</a:t>
            </a:r>
            <a:r>
              <a:rPr lang="en-US" b="1" dirty="0" smtClean="0"/>
              <a:t>/private/</a:t>
            </a:r>
            <a:r>
              <a:rPr lang="en-US" b="1" dirty="0" err="1" smtClean="0"/>
              <a:t>server.key</a:t>
            </a:r>
            <a:r>
              <a:rPr lang="en-US" b="1" dirty="0" smtClean="0"/>
              <a:t> &amp; </a:t>
            </a:r>
            <a:r>
              <a:rPr lang="en-US" b="1" dirty="0" err="1" smtClean="0"/>
              <a:t>pki</a:t>
            </a:r>
            <a:r>
              <a:rPr lang="en-US" b="1" dirty="0" smtClean="0"/>
              <a:t>/</a:t>
            </a:r>
            <a:r>
              <a:rPr lang="en-US" b="1" dirty="0" err="1" smtClean="0"/>
              <a:t>reqs</a:t>
            </a:r>
            <a:r>
              <a:rPr lang="en-US" b="1" dirty="0" smtClean="0"/>
              <a:t>/server.req </a:t>
            </a:r>
            <a:r>
              <a:rPr lang="en-US" dirty="0" smtClean="0"/>
              <a:t>Because of </a:t>
            </a:r>
            <a:r>
              <a:rPr lang="en-US" dirty="0" err="1" smtClean="0"/>
              <a:t>nopass</a:t>
            </a:r>
            <a:r>
              <a:rPr lang="en-US" dirty="0" smtClean="0"/>
              <a:t>, the server key will not have a password (common for servers).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4" y="2882900"/>
            <a:ext cx="828992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873" y="3803650"/>
            <a:ext cx="8289925" cy="161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0" y="5657671"/>
            <a:ext cx="8369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Tx/>
              <a:buChar char="-"/>
            </a:pPr>
            <a:r>
              <a:rPr lang="en-US" dirty="0" smtClean="0"/>
              <a:t> Once you run </a:t>
            </a:r>
            <a:r>
              <a:rPr lang="en-US" dirty="0" err="1" smtClean="0"/>
              <a:t>cmd</a:t>
            </a:r>
            <a:r>
              <a:rPr lang="en-US" dirty="0" smtClean="0"/>
              <a:t> then it ask server name : </a:t>
            </a:r>
            <a:r>
              <a:rPr lang="en-US" b="1" dirty="0" smtClean="0"/>
              <a:t>server1</a:t>
            </a:r>
            <a:r>
              <a:rPr lang="en-US" dirty="0" smtClean="0"/>
              <a:t> </a:t>
            </a:r>
          </a:p>
          <a:p>
            <a:pPr lvl="1">
              <a:buFontTx/>
              <a:buChar char="-"/>
            </a:pPr>
            <a:r>
              <a:rPr lang="en-US" dirty="0" smtClean="0"/>
              <a:t> </a:t>
            </a:r>
            <a:r>
              <a:rPr lang="en-US" dirty="0" err="1" smtClean="0"/>
              <a:t>Ofter</a:t>
            </a:r>
            <a:r>
              <a:rPr lang="en-US" dirty="0" smtClean="0"/>
              <a:t> it will show the path of directory</a:t>
            </a:r>
            <a:endParaRPr lang="en-US" sz="2000" dirty="0" smtClean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203200"/>
            <a:ext cx="9055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Step 10: </a:t>
            </a:r>
            <a:r>
              <a:rPr lang="en-US" b="1" dirty="0" smtClean="0"/>
              <a:t>Sign request to the Server Certificate with CA</a:t>
            </a:r>
          </a:p>
          <a:p>
            <a:pPr lvl="1"/>
            <a:endParaRPr lang="en-US" b="1" dirty="0" smtClean="0"/>
          </a:p>
          <a:p>
            <a:pPr lvl="1">
              <a:buFontTx/>
              <a:buChar char="-"/>
            </a:pPr>
            <a:r>
              <a:rPr lang="en-US" b="1" dirty="0" err="1" smtClean="0"/>
              <a:t>Cmd</a:t>
            </a:r>
            <a:r>
              <a:rPr lang="en-US" b="1" dirty="0" smtClean="0"/>
              <a:t>: ./</a:t>
            </a:r>
            <a:r>
              <a:rPr lang="en-US" b="1" dirty="0" err="1" smtClean="0"/>
              <a:t>easyrsa</a:t>
            </a:r>
            <a:r>
              <a:rPr lang="en-US" b="1" dirty="0" smtClean="0"/>
              <a:t> sign-</a:t>
            </a:r>
            <a:r>
              <a:rPr lang="en-US" b="1" dirty="0" err="1" smtClean="0"/>
              <a:t>req</a:t>
            </a:r>
            <a:r>
              <a:rPr lang="en-US" b="1" dirty="0" smtClean="0"/>
              <a:t> server server1</a:t>
            </a:r>
          </a:p>
          <a:p>
            <a:pPr lvl="1">
              <a:buFontTx/>
              <a:buChar char="-"/>
            </a:pPr>
            <a:endParaRPr lang="en-US" b="1" dirty="0" smtClean="0"/>
          </a:p>
          <a:p>
            <a:pPr lvl="2"/>
            <a:r>
              <a:rPr lang="en-US" b="1" dirty="0" smtClean="0"/>
              <a:t>Purpose:</a:t>
            </a:r>
          </a:p>
          <a:p>
            <a:pPr lvl="2"/>
            <a:r>
              <a:rPr lang="en-US" dirty="0" smtClean="0"/>
              <a:t>Signs the server’s CSR using CA</a:t>
            </a:r>
          </a:p>
          <a:p>
            <a:pPr lvl="2"/>
            <a:r>
              <a:rPr lang="en-US" dirty="0" smtClean="0"/>
              <a:t>Generates: </a:t>
            </a:r>
            <a:r>
              <a:rPr lang="en-US" b="1" dirty="0" smtClean="0"/>
              <a:t>server.crt</a:t>
            </a:r>
            <a:r>
              <a:rPr lang="en-US" dirty="0" smtClean="0"/>
              <a:t> → Server certificate</a:t>
            </a:r>
          </a:p>
          <a:p>
            <a:pPr lvl="2"/>
            <a:r>
              <a:rPr lang="en-US" dirty="0" smtClean="0"/>
              <a:t>This certificate is required by OpenVPN server to authenticate itself.</a:t>
            </a:r>
            <a:endParaRPr lang="en-US" b="1" dirty="0" smtClean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200" y="2511524"/>
            <a:ext cx="8331200" cy="2733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745467" y="5447268"/>
            <a:ext cx="5306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dirty="0" smtClean="0"/>
              <a:t>It Will ask to enter the password : </a:t>
            </a:r>
            <a:r>
              <a:rPr lang="en-US" b="1" dirty="0" smtClean="0"/>
              <a:t>ubuntu123 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06400"/>
            <a:ext cx="7480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dirty="0" smtClean="0"/>
              <a:t>Once you enter valid password then it will create the Certificate </a:t>
            </a:r>
            <a:endParaRPr lang="en-US" b="1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290" y="825500"/>
            <a:ext cx="8852610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42900" y="4014569"/>
            <a:ext cx="7480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dirty="0" smtClean="0"/>
              <a:t>Once you enter valid password then it will create the Certificate</a:t>
            </a:r>
          </a:p>
          <a:p>
            <a:pPr>
              <a:buFontTx/>
              <a:buChar char="-"/>
            </a:pPr>
            <a:r>
              <a:rPr lang="en-US" dirty="0" smtClean="0"/>
              <a:t> And it also show the Certificate validate information up-to 825 days and year  </a:t>
            </a:r>
          </a:p>
          <a:p>
            <a:pPr>
              <a:buFontTx/>
              <a:buChar char="-"/>
            </a:pPr>
            <a:r>
              <a:rPr lang="en-US" dirty="0" smtClean="0"/>
              <a:t>Once  you create the Certificate no need to create another certificate  just you can use copy this certificate and past it to any server authentication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477" y="177800"/>
            <a:ext cx="869182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</a:t>
            </a:r>
            <a:r>
              <a:rPr lang="en-US" dirty="0" smtClean="0"/>
              <a:t>Step</a:t>
            </a:r>
            <a:r>
              <a:rPr lang="en-US" b="1" dirty="0" smtClean="0"/>
              <a:t> </a:t>
            </a:r>
            <a:r>
              <a:rPr lang="en-US" dirty="0" smtClean="0"/>
              <a:t>11</a:t>
            </a:r>
            <a:r>
              <a:rPr lang="en-US" b="1" dirty="0" smtClean="0"/>
              <a:t>: </a:t>
            </a:r>
            <a:r>
              <a:rPr lang="en-US" sz="2000" b="1" dirty="0" smtClean="0"/>
              <a:t>Generate </a:t>
            </a:r>
            <a:r>
              <a:rPr lang="en-US" sz="2000" b="1" dirty="0" err="1" smtClean="0"/>
              <a:t>Diffie</a:t>
            </a:r>
            <a:r>
              <a:rPr lang="en-US" sz="2000" b="1" dirty="0" smtClean="0"/>
              <a:t>-Hellman parameters ( dh ) </a:t>
            </a:r>
          </a:p>
          <a:p>
            <a:endParaRPr lang="en-US" b="1" dirty="0" smtClean="0"/>
          </a:p>
          <a:p>
            <a:r>
              <a:rPr lang="en-US" b="1" dirty="0" smtClean="0"/>
              <a:t>	-</a:t>
            </a:r>
            <a:r>
              <a:rPr lang="en-US" b="1" dirty="0" err="1" smtClean="0"/>
              <a:t>cmd</a:t>
            </a:r>
            <a:r>
              <a:rPr lang="en-US" b="1" dirty="0" smtClean="0"/>
              <a:t>: ./</a:t>
            </a:r>
            <a:r>
              <a:rPr lang="en-US" b="1" dirty="0" err="1" smtClean="0"/>
              <a:t>easyrsa</a:t>
            </a:r>
            <a:r>
              <a:rPr lang="en-US" b="1" dirty="0" smtClean="0"/>
              <a:t> gen-dh</a:t>
            </a:r>
          </a:p>
          <a:p>
            <a:endParaRPr lang="en-US" b="1" dirty="0" smtClean="0"/>
          </a:p>
          <a:p>
            <a:pPr lvl="1"/>
            <a:r>
              <a:rPr lang="en-US" b="1" dirty="0" smtClean="0"/>
              <a:t>What it does dh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Creates </a:t>
            </a:r>
            <a:r>
              <a:rPr lang="en-US" dirty="0" err="1" smtClean="0"/>
              <a:t>pki</a:t>
            </a:r>
            <a:r>
              <a:rPr lang="en-US" dirty="0" smtClean="0"/>
              <a:t>/dh.pem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Used for secure key exchange in OpenVPN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Required for older OpenVPN configurations (for TLS handshake)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It also show the path where it created</a:t>
            </a:r>
          </a:p>
          <a:p>
            <a:pPr lvl="1">
              <a:buFont typeface="Wingdings" pitchFamily="2" charset="2"/>
              <a:buChar char="ü"/>
            </a:pPr>
            <a:endParaRPr lang="en-US" dirty="0" smtClean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477" y="3545602"/>
            <a:ext cx="8691824" cy="1293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477" y="4838700"/>
            <a:ext cx="8691824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976" y="152400"/>
            <a:ext cx="86889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Step 12: </a:t>
            </a:r>
            <a:r>
              <a:rPr lang="en-US" sz="2000" b="1" dirty="0" smtClean="0"/>
              <a:t>Generate Client Certificate Request</a:t>
            </a:r>
          </a:p>
          <a:p>
            <a:pPr lvl="1"/>
            <a:endParaRPr lang="en-US" sz="2000" b="1" dirty="0" smtClean="0"/>
          </a:p>
          <a:p>
            <a:pPr lvl="1"/>
            <a:r>
              <a:rPr lang="en-US" sz="2000" b="1" dirty="0" smtClean="0"/>
              <a:t>- </a:t>
            </a:r>
            <a:r>
              <a:rPr lang="en-US" sz="2000" b="1" dirty="0" err="1" smtClean="0"/>
              <a:t>cmd</a:t>
            </a:r>
            <a:r>
              <a:rPr lang="en-US" sz="2000" b="1" dirty="0" smtClean="0"/>
              <a:t>: ./</a:t>
            </a:r>
            <a:r>
              <a:rPr lang="en-US" sz="2000" b="1" dirty="0" err="1" smtClean="0"/>
              <a:t>easyrsa</a:t>
            </a:r>
            <a:r>
              <a:rPr lang="en-US" sz="2000" b="1" dirty="0" smtClean="0"/>
              <a:t> gen-</a:t>
            </a:r>
            <a:r>
              <a:rPr lang="en-US" sz="2000" b="1" dirty="0" err="1" smtClean="0"/>
              <a:t>req</a:t>
            </a:r>
            <a:r>
              <a:rPr lang="en-US" sz="2000" b="1" dirty="0" smtClean="0"/>
              <a:t> client1 </a:t>
            </a:r>
            <a:r>
              <a:rPr lang="en-US" sz="2000" b="1" dirty="0" err="1" smtClean="0"/>
              <a:t>nopass</a:t>
            </a:r>
            <a:endParaRPr lang="en-US" sz="2000" b="1" dirty="0" smtClean="0"/>
          </a:p>
          <a:p>
            <a:pPr lvl="1"/>
            <a:endParaRPr lang="en-US" sz="2000" b="1" dirty="0" smtClean="0"/>
          </a:p>
          <a:p>
            <a:pPr lvl="1"/>
            <a:endParaRPr lang="en-US" sz="2000" b="1" dirty="0" smtClean="0"/>
          </a:p>
          <a:p>
            <a:pPr lvl="1"/>
            <a:endParaRPr lang="en-US" sz="2000" b="1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3699" y="1241424"/>
            <a:ext cx="8458199" cy="849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3700" y="2082800"/>
            <a:ext cx="8458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66493" y="5510768"/>
            <a:ext cx="4725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You can give the any client name : </a:t>
            </a:r>
            <a:r>
              <a:rPr lang="en-US" b="1" dirty="0" smtClean="0"/>
              <a:t>client1</a:t>
            </a: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377" y="164068"/>
            <a:ext cx="6173485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Step 13: </a:t>
            </a:r>
            <a:r>
              <a:rPr lang="en-US" b="1" dirty="0" smtClean="0"/>
              <a:t>Now Generate Client Certificate Request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 lvl="1"/>
            <a:r>
              <a:rPr lang="en-US" dirty="0" smtClean="0"/>
              <a:t>- </a:t>
            </a:r>
            <a:r>
              <a:rPr lang="en-US" dirty="0" err="1" smtClean="0"/>
              <a:t>cmd</a:t>
            </a:r>
            <a:r>
              <a:rPr lang="en-US" dirty="0" smtClean="0"/>
              <a:t>: </a:t>
            </a:r>
            <a:r>
              <a:rPr lang="en-US" b="1" dirty="0" smtClean="0"/>
              <a:t>./</a:t>
            </a:r>
            <a:r>
              <a:rPr lang="en-US" b="1" dirty="0" err="1" smtClean="0"/>
              <a:t>easyrsa</a:t>
            </a:r>
            <a:r>
              <a:rPr lang="en-US" b="1" dirty="0" smtClean="0"/>
              <a:t> sign-</a:t>
            </a:r>
            <a:r>
              <a:rPr lang="en-US" b="1" dirty="0" err="1" smtClean="0"/>
              <a:t>req</a:t>
            </a:r>
            <a:r>
              <a:rPr lang="en-US" b="1" dirty="0" smtClean="0"/>
              <a:t> client </a:t>
            </a:r>
            <a:r>
              <a:rPr lang="en-US" b="1" dirty="0" err="1" smtClean="0"/>
              <a:t>client</a:t>
            </a:r>
            <a:endParaRPr lang="en-US" b="1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376" y="1209596"/>
            <a:ext cx="8701623" cy="2876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137425" y="3244334"/>
            <a:ext cx="869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client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8376" y="4042291"/>
            <a:ext cx="89556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- </a:t>
            </a:r>
            <a:r>
              <a:rPr lang="en-US" dirty="0" smtClean="0"/>
              <a:t>It will ask enter the password when you created server password that password you need to enter </a:t>
            </a:r>
            <a:endParaRPr lang="en-US" dirty="0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377" y="4688622"/>
            <a:ext cx="8701622" cy="1940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5900" y="304800"/>
            <a:ext cx="6542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You can check easy-</a:t>
            </a:r>
            <a:r>
              <a:rPr lang="en-US" sz="2400" dirty="0" err="1" smtClean="0"/>
              <a:t>rsa</a:t>
            </a:r>
            <a:r>
              <a:rPr lang="en-US" sz="2400" dirty="0" smtClean="0"/>
              <a:t> file</a:t>
            </a:r>
            <a:endParaRPr lang="en-US" sz="2400" dirty="0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2041525"/>
            <a:ext cx="8828087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Using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.PPK file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in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WinSCP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Steps to use the singapore.ppk private key in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WinSCP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Open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WinSCP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click 'New Site'.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Set File protocol to SFTP.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Enter your EC2 Public IP in Host name.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Set Username to '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ubuntu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Click the 'Advanced...' button.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 Navigate to: SSH → Authentication.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7. Click 'Browse' next to Private key file.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8. Select singapore.ppk from your computer.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 Click OK → Save → Login.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201"/>
            <a:ext cx="8966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You can save the certificate for future reference you can one software to copy the certificate that is </a:t>
            </a:r>
            <a:r>
              <a:rPr lang="en-US" b="1" dirty="0" err="1" smtClean="0"/>
              <a:t>WinSCP</a:t>
            </a:r>
            <a:endParaRPr lang="en-US" b="1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Download the </a:t>
            </a:r>
            <a:r>
              <a:rPr lang="en-US" b="1" dirty="0" err="1" smtClean="0"/>
              <a:t>WinSCP</a:t>
            </a:r>
            <a:r>
              <a:rPr lang="en-US" dirty="0" smtClean="0"/>
              <a:t>  </a:t>
            </a:r>
            <a:r>
              <a:rPr lang="en-US" dirty="0" smtClean="0">
                <a:hlinkClick r:id="rId2"/>
              </a:rPr>
              <a:t>https://winscp.net/eng/download.php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Open </a:t>
            </a:r>
            <a:r>
              <a:rPr lang="en-US" b="1" dirty="0" err="1" smtClean="0"/>
              <a:t>WinSCP</a:t>
            </a:r>
            <a:endParaRPr lang="en-US" b="1" dirty="0" smtClean="0"/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Connect the Server : Go to EC2 instance copy the </a:t>
            </a:r>
            <a:r>
              <a:rPr lang="en-US" b="1" dirty="0" smtClean="0"/>
              <a:t>Public IPv4 Address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7350" y="2511524"/>
            <a:ext cx="8058150" cy="40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074" y="165100"/>
            <a:ext cx="5327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Then go-to Advanced + SSH + Authentication  </a:t>
            </a:r>
            <a:endParaRPr 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338" y="723900"/>
            <a:ext cx="8823325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563" y="812799"/>
            <a:ext cx="8778875" cy="584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59307" y="266700"/>
            <a:ext cx="3926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Add the private key file (.</a:t>
            </a:r>
            <a:r>
              <a:rPr lang="en-US" dirty="0" err="1" smtClean="0"/>
              <a:t>ppk</a:t>
            </a:r>
            <a:r>
              <a:rPr lang="en-US" dirty="0" smtClean="0"/>
              <a:t> file)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675" y="723900"/>
            <a:ext cx="8755063" cy="595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419100" y="354568"/>
            <a:ext cx="2406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OK + Login +</a:t>
            </a:r>
            <a:r>
              <a:rPr lang="en-US" dirty="0" err="1" smtClean="0"/>
              <a:t>Accet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625" y="244475"/>
            <a:ext cx="854075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01625" y="5993368"/>
            <a:ext cx="2148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Go to </a:t>
            </a:r>
            <a:r>
              <a:rPr lang="en-US" b="1" dirty="0" smtClean="0"/>
              <a:t>easy-</a:t>
            </a:r>
            <a:r>
              <a:rPr lang="en-US" b="1" dirty="0" err="1" smtClean="0"/>
              <a:t>rsa</a:t>
            </a:r>
            <a:r>
              <a:rPr lang="en-US" b="1" dirty="0" smtClean="0"/>
              <a:t> + </a:t>
            </a:r>
            <a:endParaRPr 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468313"/>
            <a:ext cx="88011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960688"/>
            <a:ext cx="8801100" cy="253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52400" y="98981"/>
            <a:ext cx="908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Go to </a:t>
            </a:r>
            <a:r>
              <a:rPr lang="en-US" b="1" dirty="0" smtClean="0"/>
              <a:t>easy-</a:t>
            </a:r>
            <a:r>
              <a:rPr lang="en-US" b="1" dirty="0" err="1" smtClean="0"/>
              <a:t>rsa</a:t>
            </a:r>
            <a:r>
              <a:rPr lang="en-US" b="1" dirty="0" smtClean="0"/>
              <a:t> + </a:t>
            </a:r>
            <a:r>
              <a:rPr lang="en-US" b="1" dirty="0" err="1" smtClean="0"/>
              <a:t>pki</a:t>
            </a:r>
            <a:r>
              <a:rPr lang="en-US" b="1" dirty="0" smtClean="0"/>
              <a:t> + issued </a:t>
            </a:r>
            <a:r>
              <a:rPr lang="en-US" dirty="0" smtClean="0"/>
              <a:t>then you see the both client and server certificates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5326063"/>
            <a:ext cx="8801100" cy="153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4173" y="234434"/>
            <a:ext cx="86350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Now you can copy both client &amp; server along with key certificate save it in any-where </a:t>
            </a:r>
          </a:p>
          <a:p>
            <a:endParaRPr lang="en-US" dirty="0" smtClean="0"/>
          </a:p>
          <a:p>
            <a:r>
              <a:rPr lang="en-US" dirty="0" smtClean="0"/>
              <a:t>Now you can use any time these </a:t>
            </a:r>
            <a:r>
              <a:rPr lang="en-US" dirty="0" err="1" smtClean="0"/>
              <a:t>cetificates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6563" y="2166938"/>
            <a:ext cx="7178675" cy="300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299" y="180975"/>
            <a:ext cx="8886825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❗ If You </a:t>
            </a:r>
            <a:r>
              <a:rPr lang="en-US" sz="2000" b="1" dirty="0" err="1" smtClean="0"/>
              <a:t>Suddendly</a:t>
            </a:r>
            <a:r>
              <a:rPr lang="en-US" sz="2000" b="1" dirty="0" smtClean="0"/>
              <a:t> EC2 Instance Was Deleted BEFORE Saving Certificates !</a:t>
            </a:r>
          </a:p>
          <a:p>
            <a:endParaRPr lang="en-US" sz="2000" b="1" dirty="0" smtClean="0"/>
          </a:p>
          <a:p>
            <a:r>
              <a:rPr lang="en-US" sz="2000" dirty="0" smtClean="0"/>
              <a:t>When an EC2 instance is terminated: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All data inside the instance is permanently deleted</a:t>
            </a:r>
          </a:p>
          <a:p>
            <a:endParaRPr lang="en-US" sz="2000" dirty="0" smtClean="0"/>
          </a:p>
          <a:p>
            <a:r>
              <a:rPr lang="en-US" sz="2000" dirty="0" smtClean="0"/>
              <a:t>This includes:</a:t>
            </a:r>
          </a:p>
          <a:p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CA certificate + CA private key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Server certificate &amp; key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Client certificate &amp; key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DH parameters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CRL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Entire Easy-RSA PKI folder (~/easy-</a:t>
            </a:r>
            <a:r>
              <a:rPr lang="en-US" sz="2000" dirty="0" err="1" smtClean="0"/>
              <a:t>rsa</a:t>
            </a:r>
            <a:r>
              <a:rPr lang="en-US" sz="2000" dirty="0" smtClean="0"/>
              <a:t>/</a:t>
            </a:r>
            <a:r>
              <a:rPr lang="en-US" sz="2000" dirty="0" err="1" smtClean="0"/>
              <a:t>pki</a:t>
            </a:r>
            <a:r>
              <a:rPr lang="en-US" sz="2000" dirty="0" smtClean="0"/>
              <a:t>)</a:t>
            </a:r>
          </a:p>
          <a:p>
            <a:pPr lvl="1">
              <a:buFont typeface="Wingdings" pitchFamily="2" charset="2"/>
              <a:buChar char="Ø"/>
            </a:pPr>
            <a:endParaRPr lang="en-US" sz="2000" dirty="0" smtClean="0"/>
          </a:p>
          <a:p>
            <a:r>
              <a:rPr lang="en-US" sz="2000" b="1" dirty="0" smtClean="0"/>
              <a:t>❌ These files CANNOT be recovered</a:t>
            </a:r>
          </a:p>
          <a:p>
            <a:r>
              <a:rPr lang="en-US" sz="2000" dirty="0" smtClean="0"/>
              <a:t> 	</a:t>
            </a:r>
          </a:p>
          <a:p>
            <a:r>
              <a:rPr lang="en-US" sz="2000" dirty="0" smtClean="0"/>
              <a:t>	AWS does </a:t>
            </a:r>
            <a:r>
              <a:rPr lang="en-US" sz="2000" b="1" dirty="0" smtClean="0"/>
              <a:t>not</a:t>
            </a:r>
            <a:r>
              <a:rPr lang="en-US" sz="2000" dirty="0" smtClean="0"/>
              <a:t> keep backups of instance storage (unless you created a snapshot or AMI).</a:t>
            </a:r>
          </a:p>
          <a:p>
            <a:endParaRPr lang="en-US" sz="2000" b="1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ete_instance.jpg"/>
          <p:cNvPicPr>
            <a:picLocks noChangeAspect="1"/>
          </p:cNvPicPr>
          <p:nvPr/>
        </p:nvPicPr>
        <p:blipFill>
          <a:blip r:embed="rId2"/>
          <a:srcRect l="9028" t="15432" r="9306" b="5556"/>
          <a:stretch>
            <a:fillRect/>
          </a:stretch>
        </p:blipFill>
        <p:spPr>
          <a:xfrm>
            <a:off x="0" y="825500"/>
            <a:ext cx="9159478" cy="586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25600" y="17916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EC2 Instance deleted 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04800"/>
            <a:ext cx="4038600" cy="621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04800"/>
            <a:ext cx="4248150" cy="606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81000"/>
            <a:ext cx="4495800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1940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/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880</Words>
  <Application>Microsoft Office PowerPoint</Application>
  <PresentationFormat>On-screen Show (4:3)</PresentationFormat>
  <Paragraphs>203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Oriel</vt:lpstr>
      <vt:lpstr>Slide 1</vt:lpstr>
      <vt:lpstr>certificate-based authentication using Easy-RSA on an Ubuntu EC2 instance</vt:lpstr>
      <vt:lpstr>Slide 3</vt:lpstr>
      <vt:lpstr> Steps to Create Certificates Using  Easy-RSA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certificate-based authentication using Easy-RSA on an Ubuntu EC2 instance</dc:title>
  <dc:creator>DELL</dc:creator>
  <cp:lastModifiedBy>DELL</cp:lastModifiedBy>
  <cp:revision>6</cp:revision>
  <dcterms:created xsi:type="dcterms:W3CDTF">2025-12-04T09:12:44Z</dcterms:created>
  <dcterms:modified xsi:type="dcterms:W3CDTF">2025-12-05T16:35:50Z</dcterms:modified>
</cp:coreProperties>
</file>